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0" r:id="rId6"/>
    <p:sldId id="266" r:id="rId7"/>
    <p:sldId id="260" r:id="rId8"/>
    <p:sldId id="267" r:id="rId9"/>
    <p:sldId id="259" r:id="rId10"/>
    <p:sldId id="263" r:id="rId11"/>
    <p:sldId id="264" r:id="rId12"/>
    <p:sldId id="268" r:id="rId13"/>
    <p:sldId id="257" r:id="rId14"/>
    <p:sldId id="25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jay Hooda" initials="AH" lastIdx="1" clrIdx="0">
    <p:extLst>
      <p:ext uri="{19B8F6BF-5375-455C-9EA6-DF929625EA0E}">
        <p15:presenceInfo xmlns:p15="http://schemas.microsoft.com/office/powerpoint/2012/main" userId="S-1-5-21-132565353-2177070728-2915800224-251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5T21:36:00.146" idx="1">
    <p:pos x="2643" y="3802"/>
    <p:text>Explain 2 options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4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2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11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8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63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951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90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95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3139-4C18-4ABE-8196-36D219C5E7D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98D79-1264-4EC0-9850-91A05E399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1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473199"/>
            <a:ext cx="10414000" cy="1630363"/>
          </a:xfrm>
        </p:spPr>
        <p:txBody>
          <a:bodyPr>
            <a:noAutofit/>
          </a:bodyPr>
          <a:lstStyle/>
          <a:p>
            <a:r>
              <a:rPr lang="en-US" b="1" dirty="0"/>
              <a:t>Zero-Touch Device Onboarding</a:t>
            </a:r>
            <a:br>
              <a:rPr lang="en-US" b="1" dirty="0"/>
            </a:br>
            <a:r>
              <a:rPr lang="en-US" sz="4000" b="1" dirty="0"/>
              <a:t>POC Scope and Schedule</a:t>
            </a:r>
            <a:endParaRPr lang="en-IN" sz="1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13200"/>
            <a:ext cx="9144000" cy="1635760"/>
          </a:xfrm>
        </p:spPr>
        <p:txBody>
          <a:bodyPr>
            <a:noAutofit/>
          </a:bodyPr>
          <a:lstStyle/>
          <a:p>
            <a:r>
              <a:rPr lang="en-US" sz="3200" dirty="0"/>
              <a:t>Using Factory-Provisioned Cryptographic Device Identity for Belden Devices (PRISM, opEdge) onboarding on to Belden Cloud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4141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" y="222885"/>
            <a:ext cx="11739880" cy="54927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Zero-Touch Device Onboarding – </a:t>
            </a:r>
            <a:r>
              <a:rPr lang="en-US" sz="4000" dirty="0" err="1"/>
              <a:t>PoC</a:t>
            </a:r>
            <a:r>
              <a:rPr lang="en-US" sz="4000" dirty="0"/>
              <a:t> Proposal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46879"/>
            <a:ext cx="10515600" cy="193008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198907" y="897374"/>
            <a:ext cx="1884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The Strategic Shift</a:t>
            </a:r>
          </a:p>
        </p:txBody>
      </p:sp>
    </p:spTree>
    <p:extLst>
      <p:ext uri="{BB962C8B-B14F-4D97-AF65-F5344CB8AC3E}">
        <p14:creationId xmlns:p14="http://schemas.microsoft.com/office/powerpoint/2010/main" val="403668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40" y="161925"/>
            <a:ext cx="11709400" cy="447675"/>
          </a:xfrm>
        </p:spPr>
        <p:txBody>
          <a:bodyPr>
            <a:noAutofit/>
          </a:bodyPr>
          <a:lstStyle/>
          <a:p>
            <a:r>
              <a:rPr lang="en-US" sz="3600" b="1" dirty="0"/>
              <a:t>Problem:</a:t>
            </a:r>
            <a:r>
              <a:rPr lang="en-US" sz="3600" dirty="0"/>
              <a:t> Current Onboarding Model and Limitations</a:t>
            </a:r>
            <a:endParaRPr lang="en-IN" sz="36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218440" y="761271"/>
            <a:ext cx="5633720" cy="57863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Current Model:</a:t>
            </a:r>
            <a:endParaRPr lang="en-US" b="1" dirty="0"/>
          </a:p>
          <a:p>
            <a:r>
              <a:rPr lang="en-US" dirty="0" smtClean="0"/>
              <a:t>Belden Cloud one-time generates a common “Device Certificate” for BH authentication.</a:t>
            </a:r>
          </a:p>
          <a:p>
            <a:r>
              <a:rPr lang="en-US" dirty="0" smtClean="0"/>
              <a:t>Device Certificate is installed on devices, as part of firmware (</a:t>
            </a:r>
            <a:r>
              <a:rPr lang="en-US" dirty="0" err="1" smtClean="0"/>
              <a:t>filesystem</a:t>
            </a:r>
            <a:r>
              <a:rPr lang="en-US" dirty="0" smtClean="0"/>
              <a:t>).</a:t>
            </a:r>
          </a:p>
          <a:p>
            <a:r>
              <a:rPr lang="en-US" dirty="0" smtClean="0"/>
              <a:t>During Onboarding</a:t>
            </a:r>
            <a:r>
              <a:rPr lang="en-US" dirty="0"/>
              <a:t>, </a:t>
            </a:r>
            <a:r>
              <a:rPr lang="en-US" dirty="0" smtClean="0"/>
              <a:t>User </a:t>
            </a:r>
            <a:r>
              <a:rPr lang="en-US" dirty="0"/>
              <a:t>manually adds/activates each device on Belden Cloud (Tenant Association)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Limitations:</a:t>
            </a:r>
            <a:endParaRPr lang="en-US" b="1" dirty="0"/>
          </a:p>
          <a:p>
            <a:r>
              <a:rPr lang="en-US" dirty="0" smtClean="0"/>
              <a:t>Shared Device Certificate across </a:t>
            </a:r>
            <a:r>
              <a:rPr lang="en-US" dirty="0"/>
              <a:t>all devices</a:t>
            </a:r>
          </a:p>
          <a:p>
            <a:r>
              <a:rPr lang="en-US" dirty="0"/>
              <a:t>Device Certificate/Keys installed on file system </a:t>
            </a:r>
            <a:r>
              <a:rPr lang="en-IN" dirty="0"/>
              <a:t>(extractable risk)</a:t>
            </a:r>
            <a:endParaRPr lang="en-US" dirty="0"/>
          </a:p>
          <a:p>
            <a:r>
              <a:rPr lang="en-US" dirty="0"/>
              <a:t>Manual activation required per device</a:t>
            </a:r>
          </a:p>
          <a:p>
            <a:r>
              <a:rPr lang="en-US" dirty="0"/>
              <a:t>Activation keys create operational friction</a:t>
            </a:r>
          </a:p>
          <a:p>
            <a:r>
              <a:rPr lang="en-IN" dirty="0"/>
              <a:t>Slows down large-scale deployments.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b="14666"/>
          <a:stretch/>
        </p:blipFill>
        <p:spPr>
          <a:xfrm>
            <a:off x="6199632" y="761271"/>
            <a:ext cx="5801360" cy="57863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838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1" y="193040"/>
            <a:ext cx="11557591" cy="609600"/>
          </a:xfrm>
        </p:spPr>
        <p:txBody>
          <a:bodyPr>
            <a:normAutofit/>
          </a:bodyPr>
          <a:lstStyle/>
          <a:p>
            <a:r>
              <a:rPr lang="en-US" sz="3600" b="1" dirty="0"/>
              <a:t>Solution:</a:t>
            </a:r>
            <a:r>
              <a:rPr lang="en-US" sz="3600" dirty="0"/>
              <a:t> Zero-Touch Onboarding using Device Identity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72" y="934720"/>
            <a:ext cx="6820668" cy="5760720"/>
          </a:xfrm>
        </p:spPr>
        <p:txBody>
          <a:bodyPr>
            <a:normAutofit/>
          </a:bodyPr>
          <a:lstStyle/>
          <a:p>
            <a:r>
              <a:rPr lang="en-US" dirty="0"/>
              <a:t>Each device is factory-provisioned with a unique X.509 cryptographic identity.</a:t>
            </a:r>
          </a:p>
          <a:p>
            <a:r>
              <a:rPr lang="en-US" dirty="0"/>
              <a:t>Trust anchored to Belden Root CA</a:t>
            </a:r>
          </a:p>
          <a:p>
            <a:r>
              <a:rPr lang="en-US" dirty="0"/>
              <a:t>Private key securely stored on-device.</a:t>
            </a:r>
          </a:p>
          <a:p>
            <a:r>
              <a:rPr lang="en-US" dirty="0" err="1"/>
              <a:t>mTLS</a:t>
            </a:r>
            <a:r>
              <a:rPr lang="en-US" dirty="0"/>
              <a:t> over WSS </a:t>
            </a:r>
            <a:r>
              <a:rPr lang="en-US" dirty="0" smtClean="0"/>
              <a:t>for secure authentication</a:t>
            </a:r>
            <a:endParaRPr lang="en-US" dirty="0"/>
          </a:p>
          <a:p>
            <a:r>
              <a:rPr lang="en-US" dirty="0"/>
              <a:t>Device Identity-based </a:t>
            </a:r>
            <a:r>
              <a:rPr lang="en-US" dirty="0" smtClean="0"/>
              <a:t>authentication </a:t>
            </a:r>
            <a:r>
              <a:rPr lang="en-US" dirty="0"/>
              <a:t>(no passwords or activation keys)</a:t>
            </a:r>
          </a:p>
          <a:p>
            <a:r>
              <a:rPr lang="en-IN" dirty="0"/>
              <a:t>Automatic device registration and tenant association</a:t>
            </a:r>
          </a:p>
          <a:p>
            <a:r>
              <a:rPr lang="en-US" dirty="0"/>
              <a:t>Cloud-managed identity validation and lifecycle</a:t>
            </a:r>
          </a:p>
          <a:p>
            <a:r>
              <a:rPr lang="en-IN" dirty="0"/>
              <a:t>Zero human interaction required</a:t>
            </a:r>
            <a:endParaRPr lang="en-US" dirty="0"/>
          </a:p>
          <a:p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29120" y="934721"/>
            <a:ext cx="4866640" cy="53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Business Impact (Illustrative):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269468"/>
              </p:ext>
            </p:extLst>
          </p:nvPr>
        </p:nvGraphicFramePr>
        <p:xfrm>
          <a:off x="7053403" y="1928706"/>
          <a:ext cx="5057316" cy="1637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437">
                  <a:extLst>
                    <a:ext uri="{9D8B030D-6E8A-4147-A177-3AD203B41FA5}">
                      <a16:colId xmlns:a16="http://schemas.microsoft.com/office/drawing/2014/main" val="433679294"/>
                    </a:ext>
                  </a:extLst>
                </a:gridCol>
                <a:gridCol w="1037107">
                  <a:extLst>
                    <a:ext uri="{9D8B030D-6E8A-4147-A177-3AD203B41FA5}">
                      <a16:colId xmlns:a16="http://schemas.microsoft.com/office/drawing/2014/main" val="3037017533"/>
                    </a:ext>
                  </a:extLst>
                </a:gridCol>
                <a:gridCol w="1685772">
                  <a:extLst>
                    <a:ext uri="{9D8B030D-6E8A-4147-A177-3AD203B41FA5}">
                      <a16:colId xmlns:a16="http://schemas.microsoft.com/office/drawing/2014/main" val="2176811873"/>
                    </a:ext>
                  </a:extLst>
                </a:gridCol>
              </a:tblGrid>
              <a:tr h="469054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Zero-Touch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8997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r>
                        <a:rPr lang="en-IN" dirty="0"/>
                        <a:t>Avg. onboarding time/device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4518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IN" dirty="0"/>
                        <a:t>1,000 device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~250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~33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46777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69760" y="1559373"/>
            <a:ext cx="2907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Deployment Time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969760" y="3554783"/>
            <a:ext cx="35654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Estimated Time Reduction: 80 - 90%</a:t>
            </a:r>
          </a:p>
          <a:p>
            <a:r>
              <a:rPr lang="en-IN" dirty="0"/>
              <a:t>Estimated Cost Reduction: 80 - 90%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969760" y="4439920"/>
            <a:ext cx="5229353" cy="22986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Outcome:</a:t>
            </a:r>
          </a:p>
          <a:p>
            <a:r>
              <a:rPr lang="en-IN" dirty="0"/>
              <a:t>Fully automated onboarding</a:t>
            </a:r>
          </a:p>
          <a:p>
            <a:r>
              <a:rPr lang="en-US" dirty="0"/>
              <a:t>Strong cryptographic security by design</a:t>
            </a:r>
          </a:p>
          <a:p>
            <a:r>
              <a:rPr lang="en-IN" dirty="0"/>
              <a:t>Scalable fleet provisioning (10k–100k+ devices)</a:t>
            </a:r>
          </a:p>
          <a:p>
            <a:r>
              <a:rPr lang="en-US" dirty="0"/>
              <a:t>Reduced operational cost and deployment time</a:t>
            </a:r>
          </a:p>
        </p:txBody>
      </p:sp>
    </p:spTree>
    <p:extLst>
      <p:ext uri="{BB962C8B-B14F-4D97-AF65-F5344CB8AC3E}">
        <p14:creationId xmlns:p14="http://schemas.microsoft.com/office/powerpoint/2010/main" val="259661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102" y="867275"/>
            <a:ext cx="6031260" cy="56762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386080" y="897318"/>
            <a:ext cx="5209951" cy="16223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Factory (Secure Identity Provisioning):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Unique X.509 certificate per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Private key securely stored on-device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Identity signed by Belden Root 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shared credentials across fleet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4480" y="135319"/>
            <a:ext cx="11655882" cy="670560"/>
          </a:xfrm>
        </p:spPr>
        <p:txBody>
          <a:bodyPr>
            <a:normAutofit fontScale="90000"/>
          </a:bodyPr>
          <a:lstStyle/>
          <a:p>
            <a:r>
              <a:rPr lang="en-US" dirty="0"/>
              <a:t>Zero-Touch Onboarding - Components &amp; Flows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86079" y="2689916"/>
            <a:ext cx="5209952" cy="17330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Device (Auto Secure Connection/Onboarding):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On power-up, device initiates cloud 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mTLS</a:t>
            </a:r>
            <a:r>
              <a:rPr lang="en-US" dirty="0">
                <a:solidFill>
                  <a:schemeClr val="tx1"/>
                </a:solidFill>
              </a:rPr>
              <a:t> authentication over WSS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Identity-based authentication (no passwords, no activation keys)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Zero user interaction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079" y="4593192"/>
            <a:ext cx="5209952" cy="19502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Belden Cloud (</a:t>
            </a:r>
            <a:r>
              <a:rPr lang="en-IN" sz="2000" b="1" dirty="0">
                <a:solidFill>
                  <a:srgbClr val="FF0000"/>
                </a:solidFill>
              </a:rPr>
              <a:t>use on-</a:t>
            </a:r>
            <a:r>
              <a:rPr lang="en-IN" sz="2000" b="1" dirty="0" err="1">
                <a:solidFill>
                  <a:srgbClr val="FF0000"/>
                </a:solidFill>
              </a:rPr>
              <a:t>prem</a:t>
            </a:r>
            <a:r>
              <a:rPr lang="en-IN" sz="2000" b="1" dirty="0">
                <a:solidFill>
                  <a:srgbClr val="FF0000"/>
                </a:solidFill>
              </a:rPr>
              <a:t>??)</a:t>
            </a:r>
            <a:endParaRPr lang="en-IN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Validates certificate using Belden CA trust 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Automatically registers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Auto-associates device to tenant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Applies policies and lifecycle controls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45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2" y="192406"/>
            <a:ext cx="11557591" cy="569594"/>
          </a:xfrm>
        </p:spPr>
        <p:txBody>
          <a:bodyPr>
            <a:normAutofit fontScale="90000"/>
          </a:bodyPr>
          <a:lstStyle/>
          <a:p>
            <a:r>
              <a:rPr lang="en-IN" dirty="0"/>
              <a:t>Zero-Touch Onboarding - </a:t>
            </a:r>
            <a:r>
              <a:rPr lang="en-IN" dirty="0" err="1"/>
              <a:t>PoC</a:t>
            </a:r>
            <a:r>
              <a:rPr lang="en-IN" dirty="0"/>
              <a:t>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72" y="1095154"/>
            <a:ext cx="6708908" cy="52843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PoC</a:t>
            </a:r>
            <a:r>
              <a:rPr lang="en-US" b="1" dirty="0"/>
              <a:t> Scope:</a:t>
            </a:r>
            <a:endParaRPr lang="en-IN" b="1" dirty="0"/>
          </a:p>
          <a:p>
            <a:r>
              <a:rPr lang="en-IN" dirty="0"/>
              <a:t>Belden-Provisioned Identity (X.509)</a:t>
            </a:r>
          </a:p>
          <a:p>
            <a:r>
              <a:rPr lang="en-US" dirty="0"/>
              <a:t>Secure storage of certificates and keys (</a:t>
            </a:r>
            <a:r>
              <a:rPr lang="en-US" dirty="0" err="1"/>
              <a:t>filesystem</a:t>
            </a:r>
            <a:r>
              <a:rPr lang="en-US" dirty="0"/>
              <a:t>-based for </a:t>
            </a:r>
            <a:r>
              <a:rPr lang="en-US" dirty="0" err="1"/>
              <a:t>PoC</a:t>
            </a:r>
            <a:r>
              <a:rPr lang="en-US" dirty="0"/>
              <a:t>)</a:t>
            </a:r>
          </a:p>
          <a:p>
            <a:r>
              <a:rPr lang="en-IN" dirty="0" err="1"/>
              <a:t>mTLS</a:t>
            </a:r>
            <a:r>
              <a:rPr lang="en-IN" dirty="0"/>
              <a:t>-based device authentication</a:t>
            </a:r>
          </a:p>
          <a:p>
            <a:r>
              <a:rPr lang="en-US" dirty="0"/>
              <a:t>Backend certificate and metadata </a:t>
            </a:r>
            <a:r>
              <a:rPr lang="en-US" dirty="0" smtClean="0"/>
              <a:t>validation ( serial number product type validation)</a:t>
            </a:r>
            <a:endParaRPr lang="en-US" dirty="0"/>
          </a:p>
          <a:p>
            <a:r>
              <a:rPr lang="en-IN" dirty="0" smtClean="0"/>
              <a:t>Device auto-registration</a:t>
            </a:r>
          </a:p>
          <a:p>
            <a:r>
              <a:rPr lang="en-IN" dirty="0" smtClean="0"/>
              <a:t>Tenant association logic</a:t>
            </a:r>
          </a:p>
          <a:p>
            <a:r>
              <a:rPr lang="en-US" dirty="0" smtClean="0"/>
              <a:t>Device state transitions (UNACTIVATED → ACTIVATED)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518400" y="1095154"/>
            <a:ext cx="4251842" cy="5284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Out of Scope:</a:t>
            </a:r>
            <a:endParaRPr lang="en-US" b="1" dirty="0"/>
          </a:p>
          <a:p>
            <a:r>
              <a:rPr lang="en-US" dirty="0"/>
              <a:t>Hardware secure elements (TPM / HSM)</a:t>
            </a:r>
          </a:p>
          <a:p>
            <a:r>
              <a:rPr lang="en-IN" dirty="0"/>
              <a:t>Production-grade PKI scalability</a:t>
            </a:r>
            <a:endParaRPr lang="en-US" dirty="0"/>
          </a:p>
          <a:p>
            <a:r>
              <a:rPr lang="en-IN" dirty="0"/>
              <a:t>UI / Portal changes</a:t>
            </a:r>
          </a:p>
          <a:p>
            <a:r>
              <a:rPr lang="en-IN" dirty="0" smtClean="0"/>
              <a:t>Certificate lifecycle management </a:t>
            </a:r>
            <a:r>
              <a:rPr lang="en-IN" dirty="0"/>
              <a:t>at scale</a:t>
            </a:r>
          </a:p>
          <a:p>
            <a:r>
              <a:rPr lang="en-US" dirty="0"/>
              <a:t>High availability and disaster recovery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97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1" y="162560"/>
            <a:ext cx="11557591" cy="65024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PoC</a:t>
            </a:r>
            <a:r>
              <a:rPr lang="en-US" dirty="0"/>
              <a:t> Execution Plan – Resources &amp; Budget (1)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2771" y="1039276"/>
            <a:ext cx="5835148" cy="32431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Team &amp; Resources:</a:t>
            </a:r>
          </a:p>
          <a:p>
            <a:r>
              <a:rPr lang="en-US" dirty="0"/>
              <a:t>1 Go Engineer (device onboarding go-agent)</a:t>
            </a:r>
          </a:p>
          <a:p>
            <a:r>
              <a:rPr lang="en-US" dirty="0"/>
              <a:t>1 Cloud Engineer (onboarding service &amp; Device registry)</a:t>
            </a:r>
          </a:p>
          <a:p>
            <a:r>
              <a:rPr lang="en-US" dirty="0"/>
              <a:t>Shared access to existing infrastructure (VMs / cloud) / </a:t>
            </a:r>
            <a:r>
              <a:rPr lang="en-US" dirty="0" err="1"/>
              <a:t>OnPrem</a:t>
            </a:r>
            <a:r>
              <a:rPr lang="en-US" dirty="0"/>
              <a:t> Setup</a:t>
            </a:r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061199" y="1135976"/>
            <a:ext cx="4637922" cy="4188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Timeline</a:t>
            </a:r>
            <a:r>
              <a:rPr lang="en-IN" b="1" dirty="0"/>
              <a:t> (4 to 6 weeks)</a:t>
            </a:r>
            <a:endParaRPr lang="en-US" b="1" dirty="0"/>
          </a:p>
          <a:p>
            <a:r>
              <a:rPr lang="en-US" dirty="0"/>
              <a:t>Week 1: Architecture &amp; PKI setup</a:t>
            </a:r>
          </a:p>
          <a:p>
            <a:r>
              <a:rPr lang="en-US" dirty="0"/>
              <a:t>Week 2–3: Device onboarding agent</a:t>
            </a:r>
          </a:p>
          <a:p>
            <a:r>
              <a:rPr lang="en-US" dirty="0"/>
              <a:t>Week 4: Backend onboarding service</a:t>
            </a:r>
            <a:endParaRPr lang="en-IN" dirty="0"/>
          </a:p>
          <a:p>
            <a:r>
              <a:rPr lang="en-US" dirty="0"/>
              <a:t>Week 5–6: Integration, testing, demo</a:t>
            </a:r>
            <a:endParaRPr lang="en-IN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2771" y="4714241"/>
            <a:ext cx="6678428" cy="156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Risk/Dependencies:</a:t>
            </a:r>
          </a:p>
          <a:p>
            <a:r>
              <a:rPr lang="en-US" dirty="0"/>
              <a:t>Shared access to existing infrastructure (VMs / cloud)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76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1" y="365126"/>
            <a:ext cx="11557591" cy="58991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PoC</a:t>
            </a:r>
            <a:r>
              <a:rPr lang="en-US" dirty="0"/>
              <a:t> Execution Plan – Resources &amp; Budget (2)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076" y="1095155"/>
            <a:ext cx="5835148" cy="2968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Tools &amp; Technology:</a:t>
            </a:r>
          </a:p>
          <a:p>
            <a:r>
              <a:rPr lang="en-US" dirty="0" smtClean="0"/>
              <a:t>Open-source PKI tools (</a:t>
            </a:r>
            <a:r>
              <a:rPr lang="en-US" dirty="0"/>
              <a:t>OpenSSL / step-ca</a:t>
            </a:r>
            <a:r>
              <a:rPr lang="en-US" dirty="0" smtClean="0"/>
              <a:t>)</a:t>
            </a:r>
            <a:endParaRPr lang="en-US" dirty="0"/>
          </a:p>
          <a:p>
            <a:r>
              <a:rPr lang="pt-BR" dirty="0"/>
              <a:t>Existing device OS (Yocto / Linux)</a:t>
            </a:r>
            <a:endParaRPr lang="en-US" dirty="0"/>
          </a:p>
          <a:p>
            <a:r>
              <a:rPr lang="en-IN" dirty="0" err="1" smtClean="0"/>
              <a:t>WebSocket</a:t>
            </a:r>
            <a:r>
              <a:rPr lang="en-IN" dirty="0" smtClean="0"/>
              <a:t> Secure (WSS)</a:t>
            </a:r>
          </a:p>
          <a:p>
            <a:r>
              <a:rPr lang="en-IN" dirty="0" smtClean="0"/>
              <a:t>Existing backend stack</a:t>
            </a:r>
            <a:endParaRPr lang="en-IN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132320" y="1095155"/>
            <a:ext cx="4637922" cy="273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Budget Impact</a:t>
            </a:r>
            <a:endParaRPr lang="en-US" b="1" dirty="0"/>
          </a:p>
          <a:p>
            <a:r>
              <a:rPr lang="en-US" dirty="0"/>
              <a:t>Minimal incremental cost</a:t>
            </a:r>
          </a:p>
          <a:p>
            <a:r>
              <a:rPr lang="en-US" dirty="0"/>
              <a:t>Primarily engineering effort</a:t>
            </a:r>
          </a:p>
          <a:p>
            <a:r>
              <a:rPr lang="en-US" dirty="0"/>
              <a:t>No third-party licensing required for </a:t>
            </a:r>
            <a:r>
              <a:rPr lang="en-US" dirty="0" err="1"/>
              <a:t>PoC</a:t>
            </a:r>
            <a:endParaRPr lang="en-IN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2772" y="4284450"/>
            <a:ext cx="10264908" cy="209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Success Criteria</a:t>
            </a:r>
            <a:endParaRPr lang="en-US" b="1" dirty="0"/>
          </a:p>
          <a:p>
            <a:r>
              <a:rPr lang="en-US" dirty="0"/>
              <a:t>Device auto-</a:t>
            </a:r>
            <a:r>
              <a:rPr lang="en-US" dirty="0" err="1"/>
              <a:t>onboards</a:t>
            </a:r>
            <a:r>
              <a:rPr lang="en-US" dirty="0"/>
              <a:t> without human interaction</a:t>
            </a:r>
          </a:p>
          <a:p>
            <a:r>
              <a:rPr lang="en-US" dirty="0" err="1"/>
              <a:t>mTLS</a:t>
            </a:r>
            <a:r>
              <a:rPr lang="en-US" dirty="0"/>
              <a:t> authentication proven via logs</a:t>
            </a:r>
          </a:p>
          <a:p>
            <a:r>
              <a:rPr lang="en-US" dirty="0"/>
              <a:t>Device automatically assigned to tenant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09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3047365"/>
            <a:ext cx="10515600" cy="1325563"/>
          </a:xfrm>
        </p:spPr>
        <p:txBody>
          <a:bodyPr/>
          <a:lstStyle/>
          <a:p>
            <a:pPr algn="ctr"/>
            <a:r>
              <a:rPr lang="en-US" sz="7200" b="1" dirty="0"/>
              <a:t>Thanks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3760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1" y="335280"/>
            <a:ext cx="11557591" cy="497840"/>
          </a:xfrm>
        </p:spPr>
        <p:txBody>
          <a:bodyPr>
            <a:normAutofit fontScale="90000"/>
          </a:bodyPr>
          <a:lstStyle/>
          <a:p>
            <a:r>
              <a:rPr lang="en-US" dirty="0"/>
              <a:t>Current Onboarding Model &amp; Its Limitations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0" y="1095154"/>
            <a:ext cx="4637922" cy="528438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Limitations:</a:t>
            </a:r>
            <a:endParaRPr lang="en-US" b="1" dirty="0"/>
          </a:p>
          <a:p>
            <a:r>
              <a:rPr lang="en-US" dirty="0"/>
              <a:t>Requires </a:t>
            </a:r>
            <a:r>
              <a:rPr lang="en-US" b="1" dirty="0"/>
              <a:t>human interaction</a:t>
            </a:r>
            <a:r>
              <a:rPr lang="en-US" dirty="0"/>
              <a:t> during onboarding</a:t>
            </a:r>
          </a:p>
          <a:p>
            <a:r>
              <a:rPr lang="en-US" dirty="0" smtClean="0"/>
              <a:t>Activation Key handling introduces </a:t>
            </a:r>
            <a:r>
              <a:rPr lang="en-US" b="1" dirty="0" smtClean="0"/>
              <a:t>operational friction</a:t>
            </a:r>
            <a:endParaRPr lang="en-US" dirty="0"/>
          </a:p>
          <a:p>
            <a:r>
              <a:rPr lang="en-IN" dirty="0"/>
              <a:t>Slows down large-scale deployments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2772" y="1095154"/>
            <a:ext cx="6424428" cy="52843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Current Onboarding Flow:</a:t>
            </a:r>
          </a:p>
          <a:p>
            <a:r>
              <a:rPr lang="en-US" dirty="0"/>
              <a:t>Device ships with Serial Number, Device Type, and a pre-installed X.509 certificate</a:t>
            </a:r>
          </a:p>
          <a:p>
            <a:r>
              <a:rPr lang="en-US" dirty="0"/>
              <a:t>Device starts in </a:t>
            </a:r>
            <a:r>
              <a:rPr lang="en-US" b="1" dirty="0"/>
              <a:t>UNACTIVATED</a:t>
            </a:r>
            <a:r>
              <a:rPr lang="en-US" dirty="0"/>
              <a:t> state</a:t>
            </a:r>
          </a:p>
          <a:p>
            <a:r>
              <a:rPr lang="en-US" dirty="0"/>
              <a:t>User initiates activation from device UI</a:t>
            </a:r>
          </a:p>
          <a:p>
            <a:r>
              <a:rPr lang="en-US" dirty="0"/>
              <a:t>Device connects to cloud and requests activation</a:t>
            </a:r>
          </a:p>
          <a:p>
            <a:r>
              <a:rPr lang="en-US" dirty="0"/>
              <a:t>Cloud generates </a:t>
            </a:r>
            <a:r>
              <a:rPr lang="en-US" b="1" dirty="0"/>
              <a:t>Activation Key</a:t>
            </a:r>
          </a:p>
          <a:p>
            <a:r>
              <a:rPr lang="en-US" dirty="0"/>
              <a:t>User logs </a:t>
            </a:r>
            <a:r>
              <a:rPr lang="en-US" dirty="0" smtClean="0"/>
              <a:t>into Cloud </a:t>
            </a:r>
            <a:r>
              <a:rPr lang="en-US" dirty="0"/>
              <a:t>UI and enters Activation Key (User </a:t>
            </a:r>
            <a:r>
              <a:rPr lang="en-US" dirty="0" smtClean="0"/>
              <a:t>Tenant </a:t>
            </a:r>
            <a:r>
              <a:rPr lang="en-US" dirty="0"/>
              <a:t>Account)</a:t>
            </a:r>
          </a:p>
          <a:p>
            <a:r>
              <a:rPr lang="en-US" dirty="0"/>
              <a:t>Device is assigned to tenant and transitions to </a:t>
            </a:r>
            <a:r>
              <a:rPr lang="en-US" b="1" dirty="0"/>
              <a:t>ACTIVATED</a:t>
            </a:r>
            <a:r>
              <a:rPr lang="en-US" dirty="0"/>
              <a:t> 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29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1" y="365126"/>
            <a:ext cx="11557591" cy="730028"/>
          </a:xfrm>
        </p:spPr>
        <p:txBody>
          <a:bodyPr>
            <a:normAutofit/>
          </a:bodyPr>
          <a:lstStyle/>
          <a:p>
            <a:r>
              <a:rPr lang="en-IN" dirty="0"/>
              <a:t>Zero-Touch Onboarding Flow (</a:t>
            </a:r>
            <a:r>
              <a:rPr lang="en-IN" dirty="0" err="1"/>
              <a:t>PoC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72" y="1095154"/>
            <a:ext cx="11387470" cy="5284381"/>
          </a:xfrm>
        </p:spPr>
        <p:txBody>
          <a:bodyPr>
            <a:normAutofit/>
          </a:bodyPr>
          <a:lstStyle/>
          <a:p>
            <a:r>
              <a:rPr lang="en-US" dirty="0"/>
              <a:t>Device powers ON and connects to Ethernet / LTE</a:t>
            </a:r>
          </a:p>
          <a:p>
            <a:r>
              <a:rPr lang="en-IN" dirty="0"/>
              <a:t>Onboarding agent starts automatically</a:t>
            </a:r>
          </a:p>
          <a:p>
            <a:r>
              <a:rPr lang="en-US" dirty="0"/>
              <a:t>Device establishes secure WSS connection to cloud</a:t>
            </a:r>
          </a:p>
          <a:p>
            <a:r>
              <a:rPr lang="en-US" dirty="0"/>
              <a:t>Device authenticates using X.509 certificate (</a:t>
            </a:r>
            <a:r>
              <a:rPr lang="en-US" dirty="0" err="1"/>
              <a:t>mTLS</a:t>
            </a:r>
            <a:r>
              <a:rPr lang="en-US" dirty="0"/>
              <a:t>)</a:t>
            </a:r>
          </a:p>
          <a:p>
            <a:r>
              <a:rPr lang="en-IN" dirty="0"/>
              <a:t>Cloud validates:</a:t>
            </a:r>
          </a:p>
          <a:p>
            <a:pPr lvl="1"/>
            <a:r>
              <a:rPr lang="en-US" dirty="0"/>
              <a:t>Certificate chain to Manufacturer Root CA</a:t>
            </a:r>
          </a:p>
          <a:p>
            <a:pPr lvl="1"/>
            <a:r>
              <a:rPr lang="pt-BR" dirty="0"/>
              <a:t>Device metadata (Serial Number, Device Type)</a:t>
            </a:r>
          </a:p>
          <a:p>
            <a:pPr lvl="1"/>
            <a:r>
              <a:rPr lang="en-US" dirty="0"/>
              <a:t>Device is not already claimed</a:t>
            </a:r>
            <a:endParaRPr lang="en-IN" dirty="0"/>
          </a:p>
          <a:p>
            <a:r>
              <a:rPr lang="en-IN" dirty="0"/>
              <a:t>Cloud auto-registers the device</a:t>
            </a:r>
          </a:p>
          <a:p>
            <a:r>
              <a:rPr lang="en-US" dirty="0"/>
              <a:t>Device is automatically associated with a tenant</a:t>
            </a:r>
          </a:p>
          <a:p>
            <a:r>
              <a:rPr lang="en-US" dirty="0"/>
              <a:t>Device transitions to </a:t>
            </a:r>
            <a:r>
              <a:rPr lang="en-US" b="1" dirty="0"/>
              <a:t>ACTIVATED</a:t>
            </a:r>
            <a:r>
              <a:rPr lang="en-US" dirty="0"/>
              <a:t> 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43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920" y="223521"/>
            <a:ext cx="10977880" cy="416559"/>
          </a:xfrm>
        </p:spPr>
        <p:txBody>
          <a:bodyPr>
            <a:normAutofit fontScale="90000"/>
          </a:bodyPr>
          <a:lstStyle/>
          <a:p>
            <a:r>
              <a:rPr lang="en-US" dirty="0"/>
              <a:t>Belden Provisioned Device Identity (BPI)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920" y="751840"/>
            <a:ext cx="11541760" cy="58216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Device Identity: </a:t>
            </a:r>
            <a:r>
              <a:rPr lang="en-US" b="1" dirty="0"/>
              <a:t>cryptographic device identity</a:t>
            </a:r>
            <a:r>
              <a:rPr lang="en-US" dirty="0"/>
              <a:t>, not just an ID string</a:t>
            </a:r>
          </a:p>
          <a:p>
            <a:r>
              <a:rPr lang="en-US" dirty="0"/>
              <a:t>Defines </a:t>
            </a:r>
            <a:r>
              <a:rPr lang="en-US" b="1" dirty="0"/>
              <a:t>binding between a physical device and a cryptographic key pair</a:t>
            </a:r>
            <a:r>
              <a:rPr lang="en-US" dirty="0"/>
              <a:t>, asserted by Belden.</a:t>
            </a:r>
          </a:p>
          <a:p>
            <a:r>
              <a:rPr lang="en-IN" dirty="0"/>
              <a:t>BPI =&gt; </a:t>
            </a:r>
            <a:r>
              <a:rPr lang="en-US" dirty="0"/>
              <a:t>(Private Key) + (Belden-signed X.509 Certificate) + (Belden Root of Trust)</a:t>
            </a:r>
          </a:p>
          <a:p>
            <a:pPr lvl="1"/>
            <a:r>
              <a:rPr lang="en-US" b="1" dirty="0"/>
              <a:t>Uniqueness</a:t>
            </a:r>
            <a:r>
              <a:rPr lang="en-US" dirty="0"/>
              <a:t> – each device is distinguishable</a:t>
            </a:r>
          </a:p>
          <a:p>
            <a:pPr lvl="1"/>
            <a:r>
              <a:rPr lang="en-US" b="1" dirty="0"/>
              <a:t>Authenticity</a:t>
            </a:r>
            <a:r>
              <a:rPr lang="en-US" dirty="0"/>
              <a:t> – identity can be verified cryptographically</a:t>
            </a:r>
          </a:p>
          <a:p>
            <a:pPr lvl="1"/>
            <a:r>
              <a:rPr lang="en-US" b="1" dirty="0"/>
              <a:t>Non-repudiation</a:t>
            </a:r>
            <a:r>
              <a:rPr lang="en-US" dirty="0"/>
              <a:t> – identity cannot be forged without the private key</a:t>
            </a:r>
            <a:endParaRPr lang="en-IN" dirty="0"/>
          </a:p>
          <a:p>
            <a:r>
              <a:rPr lang="en-US" dirty="0"/>
              <a:t>Device Identity:</a:t>
            </a:r>
          </a:p>
          <a:p>
            <a:pPr lvl="1"/>
            <a:r>
              <a:rPr lang="en-IN" dirty="0"/>
              <a:t>Device Private Key: </a:t>
            </a:r>
            <a:r>
              <a:rPr lang="it-IT" dirty="0"/>
              <a:t>Asymmetric key (RSA-2048 / ECC-P256 / Ed25519); </a:t>
            </a:r>
            <a:r>
              <a:rPr lang="en-IN" dirty="0"/>
              <a:t>Generated per device; Stored in TPM/ </a:t>
            </a:r>
            <a:r>
              <a:rPr lang="en-IN" dirty="0" err="1"/>
              <a:t>SoC</a:t>
            </a:r>
            <a:r>
              <a:rPr lang="en-IN" dirty="0"/>
              <a:t> secure storage/ Encrypted </a:t>
            </a:r>
            <a:r>
              <a:rPr lang="en-IN" dirty="0" err="1"/>
              <a:t>filesystem</a:t>
            </a:r>
            <a:endParaRPr lang="en-IN" dirty="0"/>
          </a:p>
          <a:p>
            <a:pPr lvl="1"/>
            <a:r>
              <a:rPr lang="en-IN" dirty="0"/>
              <a:t>Device X.509 Certificate: Public key certificate; Signed by Belden CA; Standard X.509 structure</a:t>
            </a:r>
          </a:p>
          <a:p>
            <a:r>
              <a:rPr lang="en-US" dirty="0"/>
              <a:t>Conceptually Belden Provisioned Identity is:</a:t>
            </a:r>
          </a:p>
          <a:p>
            <a:pPr lvl="1"/>
            <a:r>
              <a:rPr lang="en-US" dirty="0"/>
              <a:t>BPI = Proof of origin, not ownership</a:t>
            </a:r>
          </a:p>
          <a:p>
            <a:pPr lvl="1"/>
            <a:r>
              <a:rPr lang="en-US" dirty="0"/>
              <a:t>Cryptographic, not declarative</a:t>
            </a:r>
          </a:p>
          <a:p>
            <a:pPr lvl="1"/>
            <a:r>
              <a:rPr lang="en-US" dirty="0"/>
              <a:t>Immutable root, mutable derivatives</a:t>
            </a:r>
          </a:p>
          <a:p>
            <a:pPr lvl="1"/>
            <a:r>
              <a:rPr lang="en-US" dirty="0"/>
              <a:t>Foundation for Zero-Touch Onboarding</a:t>
            </a:r>
          </a:p>
          <a:p>
            <a:pPr lvl="1"/>
            <a:r>
              <a:rPr lang="en-US" dirty="0"/>
              <a:t>Enables secure supply chain trust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527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b2ca2f-37c6-48d6-87bb-1e5b428f8ab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67253E792FD64DBBBB4D6DA76EE84C" ma:contentTypeVersion="9" ma:contentTypeDescription="Create a new document." ma:contentTypeScope="" ma:versionID="bbacd783f5e83180afaf212d0eec5544">
  <xsd:schema xmlns:xsd="http://www.w3.org/2001/XMLSchema" xmlns:xs="http://www.w3.org/2001/XMLSchema" xmlns:p="http://schemas.microsoft.com/office/2006/metadata/properties" xmlns:ns3="14b2ca2f-37c6-48d6-87bb-1e5b428f8abd" targetNamespace="http://schemas.microsoft.com/office/2006/metadata/properties" ma:root="true" ma:fieldsID="b8b5129117d1f295d707a4ce9351e710" ns3:_="">
    <xsd:import namespace="14b2ca2f-37c6-48d6-87bb-1e5b428f8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b2ca2f-37c6-48d6-87bb-1e5b428f8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15A3C6-7A0E-4348-8B08-B3144B1AE4AB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14b2ca2f-37c6-48d6-87bb-1e5b428f8abd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4E7A456-E7B4-41C8-A393-C0F6FB826C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b2ca2f-37c6-48d6-87bb-1e5b428f8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7341E65-4722-46DD-820D-306BAD560F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4184</TotalTime>
  <Words>899</Words>
  <Application>Microsoft Office PowerPoint</Application>
  <PresentationFormat>Widescreen</PresentationFormat>
  <Paragraphs>143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Zero-Touch Device Onboarding POC Scope and Schedule</vt:lpstr>
      <vt:lpstr>Zero-Touch Device Onboarding – PoC Proposal</vt:lpstr>
      <vt:lpstr>Problem: Current Onboarding Model and Limitations</vt:lpstr>
      <vt:lpstr>Solution: Zero-Touch Onboarding using Device Identity</vt:lpstr>
      <vt:lpstr>Zero-Touch Onboarding - Components &amp; Flows</vt:lpstr>
      <vt:lpstr>Zero-Touch Onboarding - PoC Scope</vt:lpstr>
      <vt:lpstr>PoC Execution Plan – Resources &amp; Budget (1)</vt:lpstr>
      <vt:lpstr>PoC Execution Plan – Resources &amp; Budget (2)</vt:lpstr>
      <vt:lpstr>Thanks</vt:lpstr>
      <vt:lpstr>Current Onboarding Model &amp; Its Limitations</vt:lpstr>
      <vt:lpstr>Zero-Touch Onboarding Flow (PoC)</vt:lpstr>
      <vt:lpstr>Belden Provisioned Device Identity (BPI)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Touch Onboarding</dc:title>
  <dc:creator>Ajay Hooda</dc:creator>
  <cp:lastModifiedBy>Nikhil Sharma</cp:lastModifiedBy>
  <cp:revision>377</cp:revision>
  <dcterms:created xsi:type="dcterms:W3CDTF">2026-02-02T07:14:18Z</dcterms:created>
  <dcterms:modified xsi:type="dcterms:W3CDTF">2026-06-09T13:17:03Z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0x0101009A67253E792FD64DBBBB4D6DA76EE84C</vt:lpwstr>
  </property>
</Properties>
</file>